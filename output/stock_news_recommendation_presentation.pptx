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7b9398bf0b4584" /><Relationship Type="http://schemas.openxmlformats.org/officeDocument/2006/relationships/extended-properties" Target="/docProps/app.xml" Id="Rb50a53b6440a42cf" /><Relationship Type="http://schemas.openxmlformats.org/officeDocument/2006/relationships/officeDocument" Target="/ppt/presentation.xml" Id="R270c022143a441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7fab639a274778"/>
  </p:sldMasterIdLst>
  <p:notesMasterIdLst>
    <p:notesMasterId xmlns:r="http://schemas.openxmlformats.org/officeDocument/2006/relationships" r:id="R5e3036a82a694664"/>
  </p:notesMasterIdLst>
  <p:sldIdLst>
    <p:sldId xmlns:r="http://schemas.openxmlformats.org/officeDocument/2006/relationships" id="256" r:id="R6197557e091c42da"/>
    <p:sldId xmlns:r="http://schemas.openxmlformats.org/officeDocument/2006/relationships" id="257" r:id="Rca899a7190c44df8"/>
    <p:sldId xmlns:r="http://schemas.openxmlformats.org/officeDocument/2006/relationships" id="258" r:id="Rd359a2266d10443b"/>
    <p:sldId xmlns:r="http://schemas.openxmlformats.org/officeDocument/2006/relationships" id="259" r:id="R3aab3544ccac4c44"/>
    <p:sldId xmlns:r="http://schemas.openxmlformats.org/officeDocument/2006/relationships" id="260" r:id="R09cb0aaea9b04594"/>
    <p:sldId xmlns:r="http://schemas.openxmlformats.org/officeDocument/2006/relationships" id="261" r:id="R66a0eda371e943d8"/>
    <p:sldId xmlns:r="http://schemas.openxmlformats.org/officeDocument/2006/relationships" id="262" r:id="R655eaa9080a1472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fab639a274778" /><Relationship Type="http://schemas.openxmlformats.org/officeDocument/2006/relationships/theme" Target="/ppt/theme/theme1.xml" Id="R9666a82da9194224" /><Relationship Type="http://schemas.openxmlformats.org/officeDocument/2006/relationships/notesMaster" Target="/ppt/notesMasters/notesMaster1.xml" Id="R5e3036a82a694664" /><Relationship Type="http://schemas.openxmlformats.org/officeDocument/2006/relationships/presProps" Target="/ppt/presProps.xml" Id="R6ac458eb3608410f" /><Relationship Type="http://schemas.openxmlformats.org/officeDocument/2006/relationships/viewProps" Target="/ppt/viewProps.xml" Id="R83a8abb9f5a046f4" /><Relationship Type="http://schemas.openxmlformats.org/officeDocument/2006/relationships/tableStyles" Target="/ppt/tableStyles.xml" Id="Rcac9421611be48f2" /><Relationship Type="http://schemas.openxmlformats.org/officeDocument/2006/relationships/slide" Target="/ppt/slides/slide1.xml" Id="R6197557e091c42da" /><Relationship Type="http://schemas.openxmlformats.org/officeDocument/2006/relationships/slide" Target="/ppt/slides/slide2.xml" Id="Rca899a7190c44df8" /><Relationship Type="http://schemas.openxmlformats.org/officeDocument/2006/relationships/slide" Target="/ppt/slides/slide3.xml" Id="Rd359a2266d10443b" /><Relationship Type="http://schemas.openxmlformats.org/officeDocument/2006/relationships/slide" Target="/ppt/slides/slide4.xml" Id="R3aab3544ccac4c44" /><Relationship Type="http://schemas.openxmlformats.org/officeDocument/2006/relationships/slide" Target="/ppt/slides/slide5.xml" Id="R09cb0aaea9b04594" /><Relationship Type="http://schemas.openxmlformats.org/officeDocument/2006/relationships/slide" Target="/ppt/slides/slide6.xml" Id="R66a0eda371e943d8" /><Relationship Type="http://schemas.openxmlformats.org/officeDocument/2006/relationships/slide" Target="/ppt/slides/slide7.xml" Id="R655eaa9080a147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594ec8f732f42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7c6a07eefe4ea1" /><Relationship Type="http://schemas.openxmlformats.org/officeDocument/2006/relationships/notesMaster" Target="/ppt/notesMasters/notesMaster1.xml" Id="Rc6eebcc3958846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3e23aa5e954290" /><Relationship Type="http://schemas.openxmlformats.org/officeDocument/2006/relationships/notesMaster" Target="/ppt/notesMasters/notesMaster1.xml" Id="R1e761864da7745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6391d01e584cf1" /><Relationship Type="http://schemas.openxmlformats.org/officeDocument/2006/relationships/notesMaster" Target="/ppt/notesMasters/notesMaster1.xml" Id="R427a4ff654f540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a66626360045fa" /><Relationship Type="http://schemas.openxmlformats.org/officeDocument/2006/relationships/notesMaster" Target="/ppt/notesMasters/notesMaster1.xml" Id="R5defa74a4d4c4f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dfc7d5309345f3" /><Relationship Type="http://schemas.openxmlformats.org/officeDocument/2006/relationships/notesMaster" Target="/ppt/notesMasters/notesMaster1.xml" Id="R99bfc2ba777042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f0d4d89909418f" /><Relationship Type="http://schemas.openxmlformats.org/officeDocument/2006/relationships/notesMaster" Target="/ppt/notesMasters/notesMaster1.xml" Id="Rd45c1e62dbaf43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f7d57e8f1e49c0" /><Relationship Type="http://schemas.openxmlformats.org/officeDocument/2006/relationships/notesMaster" Target="/ppt/notesMasters/notesMaster1.xml" Id="R70bb43dd19a3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f4039e5ee44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f14c18f5d34725" /><Relationship Type="http://schemas.openxmlformats.org/officeDocument/2006/relationships/slideLayout" Target="/ppt/slideLayouts/slideLayout2.xml" Id="Rc30523bb568e47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0523bb568e47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1a38c7a1b40fe" /><Relationship Type="http://schemas.openxmlformats.org/officeDocument/2006/relationships/notesSlide" Target="/ppt/notesSlides/notesSlide1.xml" Id="R0c43c474854f40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2ee3e13684446d" /><Relationship Type="http://schemas.openxmlformats.org/officeDocument/2006/relationships/notesSlide" Target="/ppt/notesSlides/notesSlide2.xml" Id="R11fe72ba26f543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f8635251a4cdc" /><Relationship Type="http://schemas.openxmlformats.org/officeDocument/2006/relationships/notesSlide" Target="/ppt/notesSlides/notesSlide3.xml" Id="Re5656ce65aad48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671121ecf34c88" /><Relationship Type="http://schemas.openxmlformats.org/officeDocument/2006/relationships/notesSlide" Target="/ppt/notesSlides/notesSlide4.xml" Id="R5645e0cd3e10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60d61f395c4bd2" /><Relationship Type="http://schemas.openxmlformats.org/officeDocument/2006/relationships/notesSlide" Target="/ppt/notesSlides/notesSlide5.xml" Id="R336a90a670e44d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59de064b474092" /><Relationship Type="http://schemas.openxmlformats.org/officeDocument/2006/relationships/notesSlide" Target="/ppt/notesSlides/notesSlide6.xml" Id="R60ef0827e52141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dbfbbd19cd4503" /><Relationship Type="http://schemas.openxmlformats.org/officeDocument/2006/relationships/notesSlide" Target="/ppt/notesSlides/notesSlide7.xml" Id="Rd8d6144984f841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9EBF4B9-3D7D-4FAD-B1BB-F42F3E2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DC036-107F-43F4-9FB8-3B9530C1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910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FF4E6"/>
                </a:solidFill>
                <a:latin typeface="Malgun Gothic"/>
                <a:ea typeface="Malgun Gothic"/>
                <a:cs typeface="Malgun Gothic"/>
              </a:defRPr>
            </a:pPr>
            <a:r>
              <a:t>STOCK NEWS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EADDD-6642-438A-A6ED-869D508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61341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증권사 뉴스 기반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주식 종목 추천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899E4-82E4-4656-B422-886324E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F2C9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CC443-8074-460B-A456-3ECAFB3E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61912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9E5E1"/>
                </a:solidFill>
                <a:latin typeface="Malgun Gothic"/>
                <a:ea typeface="Malgun Gothic"/>
                <a:cs typeface="Malgun Gothic"/>
              </a:defRPr>
            </a:pPr>
            <a:r>
              <a:t>뉴스 원본, LLM 분석, 추천 종목을 분리 저장하고</a:t>
            </a:r>
          </a:p>
          <a:p xmlns:a="http://schemas.openxmlformats.org/drawingml/2006/main">
            <a:pPr>
              <a:defRPr sz="2025">
                <a:solidFill>
                  <a:srgbClr val="D9E5E1"/>
                </a:solidFill>
                <a:latin typeface="Malgun Gothic"/>
                <a:ea typeface="Malgun Gothic"/>
                <a:cs typeface="Malgun Gothic"/>
              </a:defRPr>
            </a:pPr>
            <a:r>
              <a:t>추천 근거까지 추적 가능한 데이터베이스 구조로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3989F-6B66-4344-BAAB-A9619970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73215"/>
            <a:ext cx="1375982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3A"/>
          </a:solidFill>
          <a:ln xmlns:a="http://schemas.openxmlformats.org/drawingml/2006/main" w="9525">
            <a:solidFill>
              <a:srgbClr val="2365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94982-F207-4052-AC41-2EF7438F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EFE1"/>
                </a:solidFill>
                <a:latin typeface="Malgun Gothic"/>
                <a:ea typeface="Malgun Gothic"/>
                <a:cs typeface="Malgun Gothic"/>
              </a:defRPr>
            </a:pPr>
            <a:r>
              <a:t>MySQL 3307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CE1C8-340C-437B-919D-37A12A0F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632" y="6673215"/>
            <a:ext cx="1445514" cy="58293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334E"/>
          </a:solidFill>
          <a:ln xmlns:a="http://schemas.openxmlformats.org/drawingml/2006/main" w="9525">
            <a:solidFill>
              <a:srgbClr val="315B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FEE11-5CC8-41C2-AC1A-D060D921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762750"/>
            <a:ext cx="1104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EAFF"/>
                </a:solidFill>
                <a:latin typeface="Malgun Gothic"/>
                <a:ea typeface="Malgun Gothic"/>
                <a:cs typeface="Malgun Gothic"/>
              </a:defRPr>
            </a:pPr>
            <a:r>
              <a:t>FastAPI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9E2ED-68D4-4011-89EB-B0F1AF5D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496" y="6673215"/>
            <a:ext cx="1457706" cy="37719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3114"/>
          </a:solidFill>
          <a:ln xmlns:a="http://schemas.openxmlformats.org/drawingml/2006/main" w="9525">
            <a:solidFill>
              <a:srgbClr val="6F5A1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3FBBF-BAF7-48FF-8A07-FB144C63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762750"/>
            <a:ext cx="1123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2B6"/>
                </a:solidFill>
                <a:latin typeface="Malgun Gothic"/>
                <a:ea typeface="Malgun Gothic"/>
                <a:cs typeface="Malgun Gothic"/>
              </a:defRPr>
            </a:pPr>
            <a:r>
              <a:t>Vue 임시 화면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51EF7-468C-419B-B40E-C623EA0C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620" y="2476500"/>
            <a:ext cx="6736080" cy="533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93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EEFA3-D4B4-4FD2-850C-C1C4F7A1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800350"/>
            <a:ext cx="609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94C"/>
                </a:solidFill>
                <a:latin typeface="Malgun Gothic"/>
                <a:ea typeface="Malgun Gothic"/>
                <a:cs typeface="Malgun Gothic"/>
              </a:defRPr>
            </a:pPr>
            <a:r>
              <a:t>TRACEABLE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E505-030A-40F6-B505-57C8348B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32480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DEE64-473A-4140-857C-A5F376AE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3528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C178E-1DFA-45B6-A2E5-A74DD4EE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21945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뉴스 수집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76D3D-645C-45DD-96E4-E9AD4DEC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54330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2DF"/>
                </a:solidFill>
                <a:latin typeface="Malgun Gothic"/>
                <a:ea typeface="Malgun Gothic"/>
                <a:cs typeface="Malgun Gothic"/>
              </a:defRPr>
            </a:pPr>
            <a:r>
              <a:t>LS증권 API에서 기사 원본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757CEF-04F6-4855-A3E0-DE1C8274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39909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95B38-0A70-42EA-BB8A-409B8CCF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957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80F944-8ECD-4BE7-9C88-F4F2E5CF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6240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LLM 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C1B2F-0093-4352-B2F3-BD1DC6A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2862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2DF"/>
                </a:solidFill>
                <a:latin typeface="Malgun Gothic"/>
                <a:ea typeface="Malgun Gothic"/>
                <a:cs typeface="Malgun Gothic"/>
              </a:defRPr>
            </a:pPr>
            <a:r>
              <a:t>뉴스 묶음을 분석 결과 JSON으로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5B9C58-1F0C-4A3B-B5D6-27BCE4FD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473392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3A730F-978D-496A-B7A0-B08E81F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3870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307EE-B8D9-469C-A3C5-9919B99F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70535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종목 추천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6FB3B3-F81A-40BE-AF38-D92DF94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02920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2DF"/>
                </a:solidFill>
                <a:latin typeface="Malgun Gothic"/>
                <a:ea typeface="Malgun Gothic"/>
                <a:cs typeface="Malgun Gothic"/>
              </a:defRPr>
            </a:pPr>
            <a:r>
              <a:t>추천 종목과 이유, 신뢰도 저장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AA8B1-0348-4ED4-8737-E4652759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5476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6667E-898E-4714-971F-14B2A505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581650"/>
            <a:ext cx="11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4D71DB-FAD5-43B0-940D-5F545B5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448300"/>
            <a:ext cx="544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화면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BB34A-593D-46C8-BE7C-8F4AAE9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772150"/>
            <a:ext cx="5448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C6D2DF"/>
                </a:solidFill>
                <a:latin typeface="Malgun Gothic"/>
                <a:ea typeface="Malgun Gothic"/>
                <a:cs typeface="Malgun Gothic"/>
              </a:defRPr>
            </a:pPr>
            <a:r>
              <a:t>Vue에서 분석별 추천/뉴스 확인</a:t>
            </a:r>
          </a:p>
        </p:txBody>
      </p:sp>
    </p:spTree>
    <p:extLst>
      <p:ext uri="{BB962C8B-B14F-4D97-AF65-F5344CB8AC3E}">
        <p14:creationId xmlns:p14="http://schemas.microsoft.com/office/powerpoint/2010/main" val="2302863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A8D15D5-23A9-43A9-9DFA-5EFEB11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39014-2095-44C5-9403-D4CA0F29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DATABASE PROJECT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C02884-42CA-4FAD-BFFB-82C7210F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3810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전체 시스템 흐름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2F0FFD-CF84-4C32-9478-4F86B67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925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뉴스를 먼저 모으고, LLM이 관련 종목을 판단한 뒤, DB에 근거와 결과를 함께 남기는 구조입니다.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3C5E-EC53-4186-A9DE-C491207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280416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FD4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794DB-7D0F-4EE5-9B69-D7C0BB88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LS증권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42023-7B22-41BE-85F7-B8D8F87B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266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증권사 뉴스 전체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760CB-B873-410F-92A5-750111B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3385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EAFD1-088D-46B1-B6D0-91603681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419475"/>
            <a:ext cx="280416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9607F-F91D-41E9-9116-7B6C08D0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5760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news_articles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38FEF-1557-4E6D-9D16-191F60BD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38600"/>
            <a:ext cx="226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 원본 저장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URL 해시로 중복 방지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99F0E-04DB-49B1-B242-36125DB8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185EE-4ECE-47FA-8089-4455CAC5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3419475"/>
            <a:ext cx="280416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BDE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0B162-CF69-4D8D-98F0-5C05FDDC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LLM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77266A-652A-434A-AE2B-39117651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38600"/>
            <a:ext cx="226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 흐름 요약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관련 종목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431C1-A022-4CF7-BC76-3128593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3385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2CA19-EB92-4AAB-9D96-44172C28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880" y="3419475"/>
            <a:ext cx="280416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9525">
            <a:solidFill>
              <a:srgbClr val="F3DC8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5B0CA-4D18-4984-90C3-56DFEB80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65760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A6500"/>
                </a:solidFill>
                <a:latin typeface="Malgun Gothic"/>
                <a:ea typeface="Malgun Gothic"/>
                <a:cs typeface="Malgun Gothic"/>
              </a:defRPr>
            </a:pPr>
            <a:r>
              <a:t>DB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26B2BF-0842-4A88-860C-0C117227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038600"/>
            <a:ext cx="226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분석 결과와 추천 결과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근거 뉴스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DA97EF-2966-4885-A023-2F192EBA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13385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B68C3-CF16-4231-A94F-907C15D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840" y="3419475"/>
            <a:ext cx="280416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EE7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7527C-D337-4AF4-8EFE-BC24722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3657600"/>
            <a:ext cx="2266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t>Vue 화면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51C0C-21E4-4293-9686-A0F4604E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4038600"/>
            <a:ext cx="226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분석별 추천 종목과</a:t>
            </a:r>
          </a:p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근거 뉴스 확인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E70789-0197-48EC-9DE5-63671758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1680"/>
            <a:ext cx="54356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5F7DB-104D-46F2-BE3B-EB594107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489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백엔드 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F19111-62A0-425D-8476-552488D5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 수집기 + LLM 분석기 + JSON 응답 서버 역할을 담당합니다.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7CA36-E638-4979-8E2E-88523B2A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5821680"/>
            <a:ext cx="54356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00B74-ED50-4086-8894-64380445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57900"/>
            <a:ext cx="489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DB 역할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836CA1-0A48-4104-8883-65D1974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4389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 원본과 분석 결과를 분리해 추천 이유를 나중에 추적할 수 있게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E9CFFD-B757-4E7E-9141-0D81E75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5821680"/>
            <a:ext cx="54356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753189-ACA2-4B31-9599-5CE9BB0D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57900"/>
            <a:ext cx="489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프론트 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8791A-1402-4CD5-9700-1904339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38900"/>
            <a:ext cx="4895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분석 테마를 선택하고 추천 종목, 신뢰도, 근거 뉴스를 바로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459455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8BFC939-5882-4C66-B5AA-2D623C86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9EE6A-4DF0-415B-A884-1584F53B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DATABASE PROJECT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D8DB57-2CA1-47CB-A9AD-244BAE34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300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DB 설계 목표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A08B5F-5851-46CE-B9C6-867D4D0C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9982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추천 결과만 저장하는 구조가 아니라, 왜 추천되었는지 되돌아볼 수 있는 구조를 목표로 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5C158-E57B-44AD-83C5-6615D67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1270"/>
            <a:ext cx="8248650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023AA-BD1E-4977-AD49-FF41B17B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771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01. 뉴스 원본 보존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690EE-841A-4109-9E60-C7BE7227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7715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LLM에 넣기 전 기사 제목, 요약, URL, 언론사, 발행 시간을 별도 테이블에 저장합니다.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B9AA7-7BCA-4100-A9C6-4284BB3A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41270"/>
            <a:ext cx="8248650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BDE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697F5-C340-4022-BAE0-4AFF56E1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62250"/>
            <a:ext cx="771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02. 분석 이력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143C6E-9245-4740-BCF8-A80B141E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7715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모델명, 입력 요약, 원본 응답 JSON, 분석 시각을 남겨 같은 뉴스도 다시 비교할 수 있게 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F12D2-A925-4D05-9C89-ED3079A1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2685"/>
            <a:ext cx="8248650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9525">
            <a:solidFill>
              <a:srgbClr val="F0DA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F2FA3-3F9B-4B24-8D2D-81505220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77000"/>
            <a:ext cx="771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03. 추천 근거 추적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61763-992F-44F5-A714-6EAB1949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53250"/>
            <a:ext cx="7715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분석 결과와 사용된 뉴스 기사 사이에 연결 테이블을 두어 추천의 출처를 확인할 수 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F6CDC-182D-4ECF-B1EE-67880FB9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242685"/>
            <a:ext cx="8248650" cy="3434715"/>
          </a:xfrm>
          <a:prstGeom xmlns:a="http://schemas.openxmlformats.org/drawingml/2006/main" prst="roundRect">
            <a:avLst>
              <a:gd name="adj" fmla="val 499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A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6ED3F-2103-4726-BE5D-4C9859D5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477000"/>
            <a:ext cx="7715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04. 중복과 혼합 최소화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71518-D2D9-40E1-8A2F-9A63174B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953250"/>
            <a:ext cx="7715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종목, 뉴스, 분석, 추천을 역할별로 분리해 수정/확장 시 영향 범위를 줄였습니다.</a:t>
            </a:r>
          </a:p>
        </p:txBody>
      </p:sp>
    </p:spTree>
    <p:extLst>
      <p:ext uri="{BB962C8B-B14F-4D97-AF65-F5344CB8AC3E}">
        <p14:creationId xmlns:p14="http://schemas.microsoft.com/office/powerpoint/2010/main" val="13043820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B5DF41D-8010-44B1-9D69-BA7AF80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4FEF7-0CB8-48AE-96ED-955B5751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DATABASE PROJECT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99A8E5-3B07-4DC7-9ACA-2B815A19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32956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ERD 핵심 구조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8CEDE9-4523-4FF8-8778-1F088CC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71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뉴스와 분석은 다대다 관계가 될 수 있어서 analysis_news_articles 연결 테이블을 추가했습니다.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A4F33-A15B-4DA3-B83F-F5E1EB3C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80416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2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D74A6-8067-4A09-BED6-E23080EF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45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news_articles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D5447-2A37-4349-9D29-13FC857B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60000"/>
            </a:srgbClr>
          </a:solidFill>
          <a:ln xmlns:a="http://schemas.openxmlformats.org/drawingml/2006/main" w="0">
            <a:solidFill>
              <a:srgbClr val="2563EB">
                <a:alpha val="6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DB9C8-4CAE-4C17-B165-91C7D7F6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article_id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862AD-2289-45C6-9412-151301C9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title /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5C8B2-FC3B-4B0C-8C7D-524726B7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url_hash UNIQUE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A546B-8530-4734-867A-9A2A3986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published_at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A941C-62B6-41A7-90C4-47129D30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8150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F23883-0879-49EB-83B5-482E1AF6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3524250"/>
            <a:ext cx="280416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9525">
            <a:solidFill>
              <a:srgbClr val="F0DA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A9DA8-E813-44C1-8312-F0E672C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76650"/>
            <a:ext cx="245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A6500"/>
                </a:solidFill>
                <a:latin typeface="Malgun Gothic"/>
                <a:ea typeface="Malgun Gothic"/>
                <a:cs typeface="Malgun Gothic"/>
              </a:defRPr>
            </a:pPr>
            <a:r>
              <a:t>analysis_news_articles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726C9-D62A-448F-923B-567176B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500">
              <a:alpha val="60000"/>
            </a:srgbClr>
          </a:solidFill>
          <a:ln xmlns:a="http://schemas.openxmlformats.org/drawingml/2006/main" w="0">
            <a:solidFill>
              <a:srgbClr val="8A6500">
                <a:alpha val="6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D981F-1310-43AB-AE5D-2B859902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analysis_id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3E528-4CEA-4BEC-B9E5-6D5BF84B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article_id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567D9-573F-4589-B1AE-D35E9E2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910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FK -&gt; llm_analysis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594E3-AEA1-4789-BB8E-99C43246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FK -&gt; news_articles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CB853-6B6D-457D-A6DB-969987A5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8150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34F3D-AD14-4F94-BA95-D8A26340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2952750"/>
            <a:ext cx="2804160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9"/>
          </a:solidFill>
          <a:ln xmlns:a="http://schemas.openxmlformats.org/drawingml/2006/main" w="9525">
            <a:solidFill>
              <a:srgbClr val="CE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390C5-E8B8-4ED1-A8D0-D7389EC0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457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users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9DC34-0926-41B0-8C36-E38F8B01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19475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>
              <a:alpha val="60000"/>
            </a:srgbClr>
          </a:solidFill>
          <a:ln xmlns:a="http://schemas.openxmlformats.org/drawingml/2006/main" w="0">
            <a:solidFill>
              <a:srgbClr val="475569">
                <a:alpha val="60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98CF8B-AE74-4337-8C36-237792B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45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user_id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90FE57-3B50-4AFC-AD37-44681306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33800"/>
            <a:ext cx="245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username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5D3A4-F785-404D-AC1B-145693D0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4574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E53810-38DC-426D-8830-79CF9FF7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1920" y="4381500"/>
            <a:ext cx="280416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BDE8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22FEA-1C33-471F-83FF-B0FCEF90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245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llm_analysis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08916-6888-449D-9155-FE4FC915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76800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>
              <a:alpha val="60000"/>
            </a:srgbClr>
          </a:solidFill>
          <a:ln xmlns:a="http://schemas.openxmlformats.org/drawingml/2006/main" w="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11A1C5-FCEA-4CB5-87CA-6F882622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analysis_id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40D8B6-2321-44DC-96F1-48C79C21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197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FK user_id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80087-CEA5-4D0D-B2C6-39713605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model_name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5EC95-D583-43C7-952B-C15455D4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150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response_json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7E9C5B-DCAB-4CFF-8270-EA7BD552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8150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B66F11-CC2F-44F3-B6E3-11A0A5FE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1880" y="3524250"/>
            <a:ext cx="280416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7C8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1F6553-6A8B-4F5A-A836-69B565D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7665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stock_recommendations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90C2DE-682B-48C2-AD92-59B1CD02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981450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>
              <a:alpha val="60000"/>
            </a:srgbClr>
          </a:solidFill>
          <a:ln xmlns:a="http://schemas.openxmlformats.org/drawingml/2006/main" w="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80862B-958E-4CBB-B80A-1280CDDB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0767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recommendation_id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0B5584-7804-46FC-A9CD-6B0AC450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3053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FK analysis_id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524930-2890-495D-B69D-C1B69B6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5529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FK stock_id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0BA479-4539-4EA3-924A-C0EDDE0F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7815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rank / confidence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7D86E0-2AB0-429F-9209-97F3A48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381500"/>
            <a:ext cx="41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1DDB0D-C0F7-46DB-A117-9B8162C4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840" y="3524250"/>
            <a:ext cx="280416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EE7C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983C54-1E0F-4E5C-B191-AC1E4D86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3676650"/>
            <a:ext cx="245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t>stocks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FF8231-71AD-40F8-BD79-8678834F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019550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>
              <a:alpha val="60000"/>
            </a:srgbClr>
          </a:solidFill>
          <a:ln xmlns:a="http://schemas.openxmlformats.org/drawingml/2006/main" w="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93943-3E7B-476E-94CC-AB3E163E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1148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PK stock_id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FFAA3A-D43A-4ED7-B472-CB916173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3624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stock_code UNIQUE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6CC60A-CDDD-49A5-A70B-EAAAB454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61010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stock_name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B8A0E0-9514-4E05-BD12-3FBCCAEB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0" y="4857750"/>
            <a:ext cx="245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market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5844FC-5696-48D5-88DE-77770138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95110"/>
            <a:ext cx="167640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16E6BF-26B8-4A0F-A55E-638BAF1E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990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뉴스 기사 1개는 여러 분석에 다시 사용될 수 있음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98E9E6-CA67-4756-AC7F-79108C7D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81990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분석 1개는 여러 뉴스 기사를 입력으로 받을 수 있음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8DE659-93A0-437F-A91A-C345D71A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819900"/>
            <a:ext cx="52578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추천 결과는 분석 결과와 종목을 연결하는 파생 데이터</a:t>
            </a:r>
          </a:p>
        </p:txBody>
      </p:sp>
    </p:spTree>
    <p:extLst>
      <p:ext uri="{BB962C8B-B14F-4D97-AF65-F5344CB8AC3E}">
        <p14:creationId xmlns:p14="http://schemas.microsoft.com/office/powerpoint/2010/main" val="4267029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5E1A5BC-EF92-436D-B05D-12E4FC8F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27394-7852-423D-B746-1A7DB6C7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DATABASE PROJECT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8F4626-18C2-4988-AAD5-714F8C85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43053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정규화 적용 포인트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D8684E-39D8-4998-AB30-0FCE5DA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44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수업에서 배운 정규화 관점으로 보면, 원본 엔터티와 파생 엔터티를 분리한 점이 핵심입니다.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C8B22-BB37-4900-B988-10727791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5681562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2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9CA58-317D-450C-8136-2CEF972F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1NF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6E67D-9C48-4DF1-B0F1-A29004E7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하나의 컬럼에는 하나의 값만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D46D3-CDA0-4857-9881-6494C5D7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8680"/>
            <a:ext cx="5681562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BDE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6B219-196C-47EF-8477-E87F705F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2NF / 3NF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1EE95-8021-43C2-99AB-C2320AF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종목, 뉴스, 분석, 추천을 독립 테이블로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8F36C-D5AF-48FA-8A03-4CA4DEA0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93180"/>
            <a:ext cx="5681562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9525">
            <a:solidFill>
              <a:srgbClr val="F0DA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02B94-3C8C-4637-B094-DC5744DF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29400"/>
            <a:ext cx="514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A6500"/>
                </a:solidFill>
                <a:latin typeface="Malgun Gothic"/>
                <a:ea typeface="Malgun Gothic"/>
                <a:cs typeface="Malgun Gothic"/>
              </a:defRPr>
            </a:pPr>
            <a:r>
              <a:t>N:M 관계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32A01-2E11-4E7D-926B-474A8BC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1040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뉴스와 분석 사이를 연결 테이블로 표현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0E672-422B-4F24-9EF0-E19356A8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462" y="3135630"/>
            <a:ext cx="2144230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1C9D3-17DB-4B7C-A1A7-50CFC51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분류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B08B9-6052-4F75-9591-592CDA9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93" y="3135630"/>
            <a:ext cx="2814302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46EBA-E62F-4B16-B59C-B6F0DD9B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테이블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88859-3375-451E-B7B9-39995EE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95" y="3135630"/>
            <a:ext cx="5628605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BDF0C9-824E-4CFF-8301-56F920D3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2575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역할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39884A-4289-46AF-8330-1B43FDF6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462" y="3695700"/>
            <a:ext cx="2144230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67DB1-81A8-4793-9162-9AD46D94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기준 데이터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C9ECA-BEE0-45CA-8F30-4456AA2E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93" y="3695700"/>
            <a:ext cx="2814302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90A606-F84F-4B73-B05F-A4C9868F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2905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users / stocks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3D5F6-AA0B-4F39-B9B6-97B21DAB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95" y="3695700"/>
            <a:ext cx="5628605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D0037-AF10-4452-9280-12D399F1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8290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사용자 정보와 추천 가능한 종목 목록을 기준 정보로 관리합니다.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77C2B-7567-4288-A51C-5F39207D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462" y="4255770"/>
            <a:ext cx="2144230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7A2AC-FC1B-4B80-8364-88A821A0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815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원본 데이터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2B5F34-1C17-47D1-BFA9-0E79A09D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93" y="4255770"/>
            <a:ext cx="2814302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CD746-F15B-4F97-B640-02BC3DA7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8150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news_articles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CACA4F-D50B-4FB0-88E7-602D5180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95" y="4255770"/>
            <a:ext cx="5628605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8C29E-5644-481A-BEA4-5A7C48A4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38150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LS증권 API로 수집한 기사 원문 정보를 독립적으로 저장합니다.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5682A-003B-4DDD-8EE1-E03DF1F1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462" y="4815840"/>
            <a:ext cx="2144230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1454F4-6E0C-416E-9C68-4A95E7E2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339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분석 이력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97F663-F662-403B-AA37-ED48E92E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93" y="4815840"/>
            <a:ext cx="2814302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D59F4F-0A7B-4906-906B-8AD3323A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93395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llm_analysis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16CA30-DA02-4A36-87A5-73EBEFE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95" y="4815840"/>
            <a:ext cx="5628605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021958-BA2A-4604-A2C2-7AEE450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9339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LLM 입력 요약과 원본 응답 JSON을 저장해 분석 이력을 남깁니다.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B4BD9C-E679-49B4-9382-45C1C9E4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462" y="5375910"/>
            <a:ext cx="2144230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17286F-25CB-4AD8-AE2F-2C4E04F0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50545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연결 데이터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149879-1174-4165-AF9B-975DB24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93" y="5375910"/>
            <a:ext cx="2814302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8C9B9C-702B-43F5-82FD-DA48D03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50545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analysis_news_articles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45A01C-C577-4C70-81FB-9C4DFB58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95" y="5375910"/>
            <a:ext cx="5628605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D19021-6B79-40CD-A512-BD59F8D7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50545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한 분석이 어떤 기사들을 사용했는지 다대다 관계를 풀어냅니다.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0A964C-DD4F-494B-8BF2-C382A2E8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462" y="5935980"/>
            <a:ext cx="2144230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CDDED5-DC10-43D4-8BD4-4FA1CA60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057900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파생 결과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B64515-A734-4E3D-8BED-F0D51C40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93" y="5935980"/>
            <a:ext cx="2814302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487665-C44D-4FA2-A404-C11D9D2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05790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stock_recommendations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9C7E9B-89E6-4DAC-B86A-E05799E9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7395" y="5935980"/>
            <a:ext cx="5628605" cy="464820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7BDFBA-004F-4480-B5A4-35329850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057900"/>
            <a:ext cx="5314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LLM 분석 결과로 생성된 추천 종목, 이유, 신뢰도를 저장합니다.</a:t>
            </a:r>
          </a:p>
        </p:txBody>
      </p:sp>
    </p:spTree>
    <p:extLst>
      <p:ext uri="{BB962C8B-B14F-4D97-AF65-F5344CB8AC3E}">
        <p14:creationId xmlns:p14="http://schemas.microsoft.com/office/powerpoint/2010/main" val="7501770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BA33BAE-88BE-4ED1-BA60-B39C7F2A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739CB-AF66-4534-A19E-53A81D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DATABASE PROJECT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172466-89E9-4213-AA48-A1CD264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54673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샘플 데이터와 조회 쿼리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7639D2E-3B9F-4CAF-8902-025D3A65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25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실제 API/LLM 연결 전에도 DB 구조를 확인할 수 있도록 한국어 샘플 데이터를 넣었습니다.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F1260-A9F2-4CBF-896F-64ABC44D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1310"/>
            <a:ext cx="582878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91BA2-F578-47E8-8728-F1E221F9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5372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8건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53FBC-9520-4B3F-A119-BF2624F8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537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 기사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14A0B-BB16-4E53-8D6B-413B4236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6710"/>
            <a:ext cx="582878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E5F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73CFE-3D1B-489B-A867-361E5D04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5372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3건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EDB25-C69F-440D-995D-9858A95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537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LLM 분석 결과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A2BE6-9488-4AA0-A63F-D7616AB9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52110"/>
            <a:ext cx="582878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DB0BD-5FFA-4F61-98EC-C732368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5372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7건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957F1D-2B69-4048-9D9C-848B7B3F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96000"/>
            <a:ext cx="537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추천 종목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8B434-138C-417F-8BF4-2FAB11D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47510"/>
            <a:ext cx="582878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9525">
            <a:solidFill>
              <a:srgbClr val="FFF7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F1838-6384-4EF4-B0CA-D558F30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34200"/>
            <a:ext cx="5372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A6500"/>
                </a:solidFill>
                <a:latin typeface="Malgun Gothic"/>
                <a:ea typeface="Malgun Gothic"/>
                <a:cs typeface="Malgun Gothic"/>
              </a:defRPr>
            </a:pPr>
            <a:r>
              <a:t>8건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84BEE-7849-435D-ABBA-D3601E63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91400"/>
            <a:ext cx="537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뉴스-분석 연결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47C7E-27B2-451E-8584-961A50C5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2910"/>
            <a:ext cx="582878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DA842E-1C3F-44DA-8D82-50B70E9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267700"/>
            <a:ext cx="5295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분석 테마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278CE-F63A-4368-899E-1E9F3DA3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10600"/>
            <a:ext cx="529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반도체, 2차전지, 플랫폼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72CBA-4A63-442A-9F4F-343B5F52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630" y="2861310"/>
            <a:ext cx="1061137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4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305AB-36A7-427C-9697-6811E68B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67050"/>
            <a:ext cx="1007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EAFF"/>
                </a:solidFill>
                <a:latin typeface="Malgun Gothic"/>
                <a:ea typeface="Malgun Gothic"/>
                <a:cs typeface="Malgun Gothic"/>
              </a:defRPr>
            </a:pPr>
            <a:r>
              <a:t>추천 종목 조회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6F517-3569-49CA-8ABA-8E6FF6A2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29000"/>
            <a:ext cx="10077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SELECT r.rank_no, s.stock_name, r.recommendation, r.confidence</a:t>
            </a:r>
          </a:p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FROM stock_recommendations r</a:t>
            </a:r>
          </a:p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JOIN stocks s ON r.stock_id = s.stock_id</a:t>
            </a:r>
          </a:p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WHERE r.analysis_id = ?;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2F10A-4816-47DC-B97F-19A431D1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630" y="5318760"/>
            <a:ext cx="10611370" cy="2286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4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C04F3-64C2-4733-9B10-0B42D97B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24500"/>
            <a:ext cx="10077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7EAFF"/>
                </a:solidFill>
                <a:latin typeface="Malgun Gothic"/>
                <a:ea typeface="Malgun Gothic"/>
                <a:cs typeface="Malgun Gothic"/>
              </a:defRPr>
            </a:pPr>
            <a:r>
              <a:t>추천 근거 뉴스 조회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9C1C7-4BC8-4698-A95E-9E03C153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86450"/>
            <a:ext cx="100774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SELECT n.title, n.publisher, n.published_at</a:t>
            </a:r>
          </a:p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FROM analysis_news_articles an</a:t>
            </a:r>
          </a:p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JOIN news_articles n ON an.article_id = n.article_id</a:t>
            </a:r>
          </a:p>
          <a:p xmlns:a="http://schemas.openxmlformats.org/drawingml/2006/main">
            <a:pPr>
              <a:defRPr sz="1500">
                <a:solidFill>
                  <a:srgbClr val="E8F0FF"/>
                </a:solidFill>
                <a:latin typeface="Consolas"/>
                <a:ea typeface="Consolas"/>
                <a:cs typeface="Consolas"/>
              </a:defRPr>
            </a:pPr>
            <a:r>
              <a:t>WHERE an.analysis_id = ?;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501A5D-3388-40E3-A8A3-DAED6422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4630" y="7776210"/>
            <a:ext cx="1061137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EE7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6F34D3-5179-4E84-8054-61F7E5C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001000"/>
            <a:ext cx="10077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t>발표 시 보여줄 포인트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9FAACB-071A-4253-950B-5F3C1B30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382000"/>
            <a:ext cx="10077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Workbench나 SQL 명령으로 테이블 구조와 샘플 데이터를 직접 확인할 수 있고, 같은 데이터를 API와 Vue 화면에서도 조회할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99341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D01980C-043D-44E8-99F8-F4500CD0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9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4315D-4477-4536-ADCB-A6EFB9C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1676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DATABASE PROJECT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83861F-CEED-426C-BD77-8A2358D3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4381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Vue 화면 구현 결과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B4B08A-176B-4954-A819-E05F1EB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9182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DB 구조가 화면 기능으로 드러나도록 분석 선택, 추천 필터, 근거 뉴스 확인을 넣었습니다.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46DA4-44A2-4289-9BE6-0C36F3CA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559160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77A6A-5ADE-4560-9B1C-90609FC9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506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분석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59842-7850-40C6-B98C-B6089397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506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전체 / 반도체 / 2차전지 / 플랫폼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C8703-AB74-429E-AE38-5413D71E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6280"/>
            <a:ext cx="559160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2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2231A-FDD0-4D22-96BA-6CDF797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506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추천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1E5CB-451F-41F2-8E4F-05689E84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506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전체, BUY, WATCH 상태별 조회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31B0A-ADFA-4156-8F62-1801F8C2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6930"/>
            <a:ext cx="5591608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7D7"/>
          </a:solidFill>
          <a:ln xmlns:a="http://schemas.openxmlformats.org/drawingml/2006/main" w="9525">
            <a:solidFill>
              <a:srgbClr val="F0DA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83A24-D342-4C85-8B55-3DEE50C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53150"/>
            <a:ext cx="506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A6500"/>
                </a:solidFill>
                <a:latin typeface="Malgun Gothic"/>
                <a:ea typeface="Malgun Gothic"/>
                <a:cs typeface="Malgun Gothic"/>
              </a:defRPr>
            </a:pPr>
            <a:r>
              <a:t>근거 뉴스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95592-B71D-48ED-BC00-9B6BFE7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34150"/>
            <a:ext cx="506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추천 종목을 클릭하면 관련 뉴스 영역을 강조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7B1E4-E908-4912-BD4B-E9AEAEB3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40930"/>
            <a:ext cx="5591608" cy="1504950"/>
          </a:xfrm>
          <a:prstGeom xmlns:a="http://schemas.openxmlformats.org/drawingml/2006/main" prst="roundRect">
            <a:avLst>
              <a:gd name="adj" fmla="val 1139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9525">
            <a:solidFill>
              <a:srgbClr val="BEE7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7CED3-0FCE-4DC9-85AE-F6D8F106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77150"/>
            <a:ext cx="5067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t>시장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246BB-ABAE-4FBC-9EA3-CE95A2F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58150"/>
            <a:ext cx="5067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환율/공포지수는 왼쪽, 코스피와 업종 대시보드는 하단 배치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A1D829-81C3-4A43-A1B0-4A2483C4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558" y="3135630"/>
            <a:ext cx="10810442" cy="7410450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CE86DD-69E5-4905-BE12-08BADEEA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8191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뉴스 기반 주식 종목 추천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C55DDA-38A7-485F-B810-8075FBA5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3533" y="3371850"/>
            <a:ext cx="1945767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BDE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234AE-D332-4A30-9292-F9AA986A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3467100"/>
            <a:ext cx="1600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data_source: database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F45605-2AA9-4EA0-9D1E-8DE09DC1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258" y="4053840"/>
            <a:ext cx="2860098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CC7E2-1842-49FD-BF4A-EA50CCC6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분석 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B55A0-7177-4EA9-AA24-D91D016F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2514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전체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EFDC1-B579-478D-9C80-A42B052A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706" y="4053840"/>
            <a:ext cx="3575122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9525">
            <a:solidFill>
              <a:srgbClr val="E5F4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7890F-968F-4367-80C5-ECF7A5D3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248150"/>
            <a:ext cx="3124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7개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52926D-2B1D-4336-A852-96305393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7053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추천 종목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A7F745-D7C8-4B18-A83C-CC3907B2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4178" y="4053840"/>
            <a:ext cx="3575122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FF125-9B29-4FDE-9FB0-764E6F70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248150"/>
            <a:ext cx="3124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8건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D4B05-1AC0-4CA4-855B-62C1234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705350"/>
            <a:ext cx="3124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근거 뉴스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663F7A-F1FD-424E-91F1-CD29B9DA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258" y="5406390"/>
            <a:ext cx="5052796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5D243A-DA14-4274-9A4E-27E5CDDC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추천 종목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03A92-341F-4EF6-B03B-9BC458F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000750"/>
            <a:ext cx="3314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삼성전자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E46986-05C0-43A8-9D50-15B5CCFE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208" y="5943600"/>
            <a:ext cx="606171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7C8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854543-31BE-4A04-8D7D-3EA252B4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38850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BUY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E5E79-E68F-4211-9858-634A1C94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00075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0.87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C16A6-198E-4535-B97F-D411135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57950"/>
            <a:ext cx="3314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SK하이닉스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4CC184-154D-42FB-9A7A-90567458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0208" y="6400800"/>
            <a:ext cx="606171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7C8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EB95E-C44F-454F-8CAF-AED8C17D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266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BUY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612D4E-13AB-4D1C-920F-C386F72F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5795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0.84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3BF405-C0A8-443E-B4ED-3499C80D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896100"/>
            <a:ext cx="3105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NAVER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4F0A3E-ED86-4B32-BA0C-B727BFB1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9991" y="6838950"/>
            <a:ext cx="816388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2D7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2B6737-CF1B-4537-B21C-EA86AFEF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934200"/>
            <a:ext cx="47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t>WATCH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DF1C79-164F-4C13-9648-28E71999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896100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0.72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FF3C58-7678-48D4-934D-CEA8C1F7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6504" y="5406390"/>
            <a:ext cx="5052796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5DA1E7-AA7A-4C1F-B5EE-8CC0A90B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581650"/>
            <a:ext cx="466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근거 뉴스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D0C10B-DE55-4C99-896E-8F2C2CF3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96265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AI 서버 투자 확대로 메모리 반도체 수요 증가 기대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85285C-BA16-4948-913A-D3AA46BA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28650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t>HBM 공급 부족과 데이터센터 증설이 반도체 업황을 견인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E6B345-CC13-49AB-BF91-9B91B7D7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610350"/>
            <a:ext cx="466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t>클릭한 종목의 근거 뉴스가 강조됨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837BAE-7A7A-41F5-BF7C-3502EC8D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2258" y="8035290"/>
            <a:ext cx="5305436" cy="2282190"/>
          </a:xfrm>
          <a:prstGeom xmlns:a="http://schemas.openxmlformats.org/drawingml/2006/main" prst="roundRect">
            <a:avLst>
              <a:gd name="adj" fmla="val 75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B1C2A6-5098-46C0-BBC1-ADF5EEA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834390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코스피 차트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51BAAB-8012-48E1-A6A9-B033C58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8210550"/>
            <a:ext cx="914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4A"/>
                </a:solidFill>
                <a:latin typeface="Malgun Gothic"/>
                <a:ea typeface="Malgun Gothic"/>
                <a:cs typeface="Malgun Gothic"/>
              </a:defRPr>
            </a:pPr>
            <a:r>
              <a:t>2,687.45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939954-D808-4C2E-804B-B9E0EB9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334500"/>
            <a:ext cx="438150" cy="4572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2AD867-40C2-4BD6-9670-3F66F569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9220200"/>
            <a:ext cx="438150" cy="5905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709C1-E030-4421-8CF7-2D44B57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410700"/>
            <a:ext cx="438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932B78-5E6C-4BE8-8152-07FB426B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067800"/>
            <a:ext cx="438150" cy="7239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6BD7A3-A3EF-4B9F-B953-D81590A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8915400"/>
            <a:ext cx="438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2774B7-05AE-4095-AF59-D433A31D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8991600"/>
            <a:ext cx="438150" cy="7810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C92D0-E255-45E1-A196-69630213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986790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t>1W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973115-AA19-42A8-8848-2519A98A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986790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t>2W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C2E0DE-564F-4595-A31F-C30C27AB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986790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t>3W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2B42150-CEFD-4CF6-8BFA-88EBC460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986790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t>4W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16BD40-5D7D-4A9C-8679-D4D1D57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986790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t>5W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229507-6135-460F-B9EB-FB994B8C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9867900"/>
            <a:ext cx="4000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t>6W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5B2D0DB-4AD4-4A2E-AC7E-A15C333E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9144" y="8035290"/>
            <a:ext cx="4800156" cy="2282190"/>
          </a:xfrm>
          <a:prstGeom xmlns:a="http://schemas.openxmlformats.org/drawingml/2006/main" prst="roundRect">
            <a:avLst>
              <a:gd name="adj" fmla="val 751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44C1E2-1E79-4707-A07B-BB2EDE81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821055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업종별 등락률 TOP5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57553D8-5304-4A89-9A8C-D921CAEB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644" y="8572500"/>
            <a:ext cx="267748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40CF2E-59EB-461D-949C-9F65CA62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648700"/>
            <a:ext cx="76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4BE536-9929-46B0-AACB-23530A9C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862965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전자장비와기기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F0861A-2FBB-4BE4-B670-654DFB8B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862965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+8.12%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A381E45-D2E6-432A-9BF6-E2385DA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644" y="8991600"/>
            <a:ext cx="267748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DFCE24-DE11-40DD-B970-BE568654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9067800"/>
            <a:ext cx="76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D8598F-5507-493C-8A3C-63FD555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04875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석유와가스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5CDCE4-C63F-4D6F-AA47-AB2C8361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904875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+7.37%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B388195-9478-4470-A430-E6CEED1F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644" y="9391650"/>
            <a:ext cx="267748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55BA10C-BE86-46B9-93D7-C66C0244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9467850"/>
            <a:ext cx="76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C68FF1F-1B1E-47E1-A8B0-4B84C697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9448800"/>
            <a:ext cx="3257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t>건강관리기술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760CA6A-ABC3-42F5-BD50-A2F097D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9448800"/>
            <a:ext cx="66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t>+7.35%</a:t>
            </a:r>
          </a:p>
        </p:txBody>
      </p:sp>
    </p:spTree>
    <p:extLst>
      <p:ext uri="{BB962C8B-B14F-4D97-AF65-F5344CB8AC3E}">
        <p14:creationId xmlns:p14="http://schemas.microsoft.com/office/powerpoint/2010/main" val="2106737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2026-05-22T06:23:41.2810000Z</dcterms:created>
  <dcterms:modified xsi:type="dcterms:W3CDTF">2026-05-22T06:23:41.2820000Z</dcterms:modified>
</coreProperties>
</file>